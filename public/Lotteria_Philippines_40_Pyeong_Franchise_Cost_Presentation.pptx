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51960" y="0"/>
            <a:ext cx="320040" cy="6858000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/mnt/data/lotteria_combo.png">    </p:cNvPr>
          <p:cNvPicPr>
            <a:picLocks noChangeAspect="1"/>
          </p:cNvPicPr>
          <p:nvPr/>
        </p:nvPicPr>
        <p:blipFill>
          <a:blip r:embed="rId1"/>
          <a:srcRect l="7658" r="7658" t="0" b="0"/>
          <a:stretch/>
        </p:blipFill>
        <p:spPr>
          <a:xfrm>
            <a:off x="6126480" y="502920"/>
            <a:ext cx="53035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6928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LOTTERIA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PHILIPPINES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" y="199339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40-Pyeong Franchise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 Presentation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21792" y="33467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E8E8"/>
                </a:solidFill>
              </a:rPr>
              <a:t>Full-service quick-service restaurant setup guide for a Philippine dine-in branch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" y="416052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233672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Investor Planning Deck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263640" y="5138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</a:rPr>
              <a:t>Estimated Total Initial Investment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45352" y="54864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₱23.5M to ₱46.9M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291072" y="5989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</a:rPr>
              <a:t>Recommended capital preparation: ₱30M to ₱50M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09360" y="627278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Planning estimate only. Subject to official franchise agreement, quotations, lease terms and LGU requirements.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Investment Snapshot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A 40-pyeong branch is a complete dine-in fast-food store format for mall or high-foot-traffic locations.</a:t>
            </a:r>
            <a:endParaRPr lang="en-US" sz="950" dirty="0"/>
          </a:p>
        </p:txBody>
      </p:sp>
      <p:pic>
        <p:nvPicPr>
          <p:cNvPr id="5" name="Image 0" descr="/mnt/data/lotteria_store.jpg">    </p:cNvPr>
          <p:cNvPicPr>
            <a:picLocks noChangeAspect="1"/>
          </p:cNvPicPr>
          <p:nvPr/>
        </p:nvPicPr>
        <p:blipFill>
          <a:blip r:embed="rId1"/>
          <a:srcRect l="0" r="0" t="8696" b="8696"/>
          <a:stretch/>
        </p:blipFill>
        <p:spPr>
          <a:xfrm>
            <a:off x="6629400" y="749808"/>
            <a:ext cx="5047488" cy="31272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749808"/>
            <a:ext cx="5047488" cy="31272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STORE SIZE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66928" y="17099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 pyeong / 132 sqm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ESTIMATED INVESTMENT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66928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₱23.5M – ₱46.9M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66928" y="3611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RECOMMENDED PREPARATION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6928" y="3904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₱30M – ₱50M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5508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PRIMARY COST DRIVERS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355080" y="46634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Fit-Out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9902190" y="4709160"/>
            <a:ext cx="1062990" cy="10972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87000" y="4846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₱6.5M–₱11M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355080" y="5047488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Kitchen Equipment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10020300" y="5093208"/>
            <a:ext cx="1181100" cy="109728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87000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₱7M–₱12M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355080" y="5431536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Other Setup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9193530" y="5477256"/>
            <a:ext cx="1062990" cy="109728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87000" y="56144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₱3.5M–₱8M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6928" y="4892040"/>
            <a:ext cx="50749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dine-in, takeout and delivery-ready operations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cash requirement comes before opening day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buffer protects against construction, permit and landlord changes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530352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This deck presents the cost model as a Philippine franchise investment guide. Amounts remain estimates until verified by official documents.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40-Pyeong Store Covers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Approximately 132 sqm, suitable for a complete quick-service restaurant with customer and back-of-house zones.</a:t>
            </a:r>
            <a:endParaRPr lang="en-US" sz="950" dirty="0"/>
          </a:p>
        </p:txBody>
      </p:sp>
      <p:pic>
        <p:nvPicPr>
          <p:cNvPr id="5" name="Image 0" descr="/mnt/data/lotteria_meal2.png">    </p:cNvPr>
          <p:cNvPicPr>
            <a:picLocks noChangeAspect="1"/>
          </p:cNvPicPr>
          <p:nvPr/>
        </p:nvPicPr>
        <p:blipFill>
          <a:blip r:embed="rId1"/>
          <a:srcRect l="4322" r="4322" t="0" b="0"/>
          <a:stretch/>
        </p:blipFill>
        <p:spPr>
          <a:xfrm>
            <a:off x="594360" y="1234440"/>
            <a:ext cx="33375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34440"/>
            <a:ext cx="333756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132 sqm working footprint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5528" y="4553712"/>
            <a:ext cx="29077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B2F36"/>
                </a:solidFill>
              </a:rPr>
              <a:t>The store size supports both sales volume and operational separation.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526280" y="1234440"/>
            <a:ext cx="146304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1704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Dining Area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14032" y="1197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07070"/>
                </a:solidFill>
              </a:rPr>
              <a:t>Tables, chairs, waiting zone and customer circulation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800600" y="1563624"/>
            <a:ext cx="64008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2084832"/>
            <a:ext cx="146304" cy="146304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020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Service Counter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14032" y="2048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07070"/>
                </a:solidFill>
              </a:rPr>
              <a:t>Cashier, pickup counter, menu board and queue flow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4800600" y="2414016"/>
            <a:ext cx="64008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6280" y="2935224"/>
            <a:ext cx="146304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8712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Kitchen Line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14032" y="2898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07070"/>
                </a:solidFill>
              </a:rPr>
              <a:t>Fryers, grills, assembly tables and holding equipment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4800600" y="3264408"/>
            <a:ext cx="64008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3785616"/>
            <a:ext cx="146304" cy="146304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3721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Cold &amp; Dry Storage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114032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07070"/>
                </a:solidFill>
              </a:rPr>
              <a:t>Freezers, chillers, dry goods and packaging stocks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4800600" y="4114800"/>
            <a:ext cx="64008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6280" y="4636008"/>
            <a:ext cx="146304" cy="146304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4572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Staff &amp; Utility Area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114032" y="4599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07070"/>
                </a:solidFill>
              </a:rPr>
              <a:t>Lockers, handwash, cleaning area and office/storage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4800600" y="4965192"/>
            <a:ext cx="64008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Planning assumption: standard dine-in fast-food branch, not kiosk or express-only format.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Investment Guidance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The practical planning range depends heavily on site condition, landlord requirements and store location.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097280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996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2A"/>
                </a:solidFill>
              </a:rPr>
              <a:t>Estimated Total Initial Investment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6280" y="14081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₱23.5M to ₱46.9M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01000" y="13533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07070"/>
                </a:solidFill>
              </a:rPr>
              <a:t>Recommended capital preparation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37260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₱30M to ₱50M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BUDGET LOGIC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07492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investment includes the store build, kitchen, signage, technology, inventory, training and launch costs.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capital includes a safer allowance for deposits, delays, import costs, supplier adjustments and contingency.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malls and flagship locations normally require a higher buffer because landlord and engineering costs are stricter.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172200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INVESTMENT RANGE VIEW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172200" y="2706624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Low estimate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648998" y="2752344"/>
            <a:ext cx="405245" cy="109728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28895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₱23.5M–₱30M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72200" y="3255264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Core range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054244" y="3300984"/>
            <a:ext cx="623455" cy="10972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0" y="34381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₱30M–₱40M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72200" y="3803904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Prime/flagship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677698" y="3849624"/>
            <a:ext cx="623455" cy="109728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39867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₱40M–₱50M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72200" y="4352544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Premium buffer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1301153" y="4398264"/>
            <a:ext cx="311727" cy="109728"/>
          </a:xfrm>
          <a:prstGeom prst="rect">
            <a:avLst/>
          </a:prstGeom>
          <a:solidFill>
            <a:srgbClr val="1F9D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0" y="4535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₱50M–₱55M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Use the recommended capital range for serious investor preparation, especially where landlord, mall and imported equipment variables are unknown.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Build-Out Budget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These costs convert the site into a brand-compliant, operating fast-food branch.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Store Fit-Out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₱6.5M – ₱11.0M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Construction, interiors, MEPF works, counter, lighting, walls, ceiling, flooring and finishing.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333756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234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Kitchen Equipment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407408" y="15087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₱7.0M – ₱12.0M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407408" y="18013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Fryers, grills, freezers, chillers, prep tables, exhaust, warmers and stainless fixtures.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407408" y="2231136"/>
            <a:ext cx="34290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Furniture &amp; Fixtures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229600" y="1508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2A"/>
                </a:solidFill>
              </a:rPr>
              <a:t>₱1.5M – ₱3.0M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229600" y="18013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Dining tables, chairs, service fixtures, storage cabinets, waiting area and customer fixtures.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229600" y="2231136"/>
            <a:ext cx="32461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11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Signage &amp; Branding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₱800K – ₱1.8M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94360" y="41788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Outdoor signage, lightbox, menu boards, indoor branding, wall graphics and opening materials.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94360" y="4608576"/>
            <a:ext cx="333756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3611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POS &amp; Technology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407408" y="3886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2A"/>
                </a:solidFill>
              </a:rPr>
              <a:t>₱600K – ₱1.5M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4407408" y="41788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POS terminal, printers, kitchen display, order monitor, internet, CCTV and store systems.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407408" y="4608576"/>
            <a:ext cx="34290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Core build-out subtotal focus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0" y="4096512"/>
            <a:ext cx="31089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</a:rPr>
              <a:t>The fit-out and kitchen package are the heavy engines of the project. These two categories can represent more than half of the cash requirement before opening.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Actual amount may change due to shell condition, landlord standards, exhaust routing, utility capacity and brand-approved supplier requirements.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Opening Readiness Budget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These costs prepare the store to open legally, operate smoothly and launch with demand.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Franchise Fee / Brand Rights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₱1.0M – ₱3.0M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594360" y="18013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Brand rights, manuals, onboarding, operating system, store standards and launch support.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333756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234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Permits &amp; Legal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4407408" y="15087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2A"/>
                </a:solidFill>
              </a:rPr>
              <a:t>₱300K – ₱900K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407408" y="18013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Business registration, barangay clearance, mayor’s permit, BIR, sanitary, fire safety and occupancy.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407408" y="2231136"/>
            <a:ext cx="34290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Opening Inventory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229600" y="15087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₱1.0M – ₱2.2M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229600" y="180136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Food ingredients, packaging, drinks, sauces, cleaning supplies, uniforms and disposables.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229600" y="2231136"/>
            <a:ext cx="32461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1188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Training &amp; Pre-Opening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94360" y="38862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2A"/>
                </a:solidFill>
              </a:rPr>
              <a:t>₱600K – ₱1.5M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94360" y="41788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Recruitment, crew training, manager training, mock operations, soft opening and manuals.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94360" y="4608576"/>
            <a:ext cx="333756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36118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Marketing &amp; Launch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407408" y="3886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31B23"/>
                </a:solidFill>
              </a:rPr>
              <a:t>₱700K – ₱2.0M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4407408" y="417880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Grand opening promos, social ads, flyers, local marketing, influencers and opening discounts.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4407408" y="4608576"/>
            <a:ext cx="342900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6118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7202A"/>
                </a:solidFill>
              </a:rPr>
              <a:t>Other Setup Expenses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7202A"/>
                </a:solidFill>
              </a:rPr>
              <a:t>₱3.5M – ₱8.0M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8229600" y="41788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B6472"/>
                </a:solidFill>
              </a:rPr>
              <a:t>Rent advance, deposits, insurance, professional fees, delivery app setup and contingency.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8229600" y="4608576"/>
            <a:ext cx="324612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Other setup expenses are often underestimated. They are the project’s buffer against surprise costs.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Store Fit-Out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The fit-out turns a bare commercial space into a compliant, branded and customer-ready restaurant.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ESTIMATED FIT-OUT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₱6.5M – ₱11.0M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5074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Civil works: flooring, ceiling, walls, partitions and finishing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works: panels, wiring, lighting, outlets and power load preparation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Plumbing and sanitary: waterlines, drainage, grease trap provisions and handwash points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works: ventilation, exhaust coordination and air-conditioning provisions
</a:t>
            </a:r>
            <a:pPr indent="0" marL="0">
              <a:buNone/>
            </a:pPr>
            <a:r>
              <a:rPr lang="en-US" sz="10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counter and customer area finishing with brand-compliant materials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446520" y="1280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INVESTOR NOTE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446520" y="1627632"/>
            <a:ext cx="46634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</a:rPr>
              <a:t>Mall locations may require approved contractors, construction bonds, fire-rated materials, specific exhaust routing and stricter design approval.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834640"/>
            <a:ext cx="470916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2A"/>
                </a:solidFill>
              </a:rPr>
              <a:t>Why it matters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720840" y="34564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B2F36"/>
                </a:solidFill>
              </a:rPr>
              <a:t>Fit-out affects customer experience, kitchen flow, safety compliance and opening timeline.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480060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2F36"/>
                </a:solidFill>
              </a:rPr>
              <a:t>Typical share of total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868308" y="4846320"/>
            <a:ext cx="283921" cy="10972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49834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202A"/>
                </a:solidFill>
              </a:rPr>
              <a:t>₱6.5M–₱11M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Fit-out quotation should be supported by architectural plans, engineering plans, bill of materials and contractor proposal.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Kitchen Equipment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The kitchen package protects speed, consistency, food safety and daily production capacity.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ESTIMATED KITCHEN PACKAGE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₱7.0M – ₱12.0M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COOKING LINE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21792" y="2670048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fryers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Burger grills / patty equipment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Chicken fryers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 warmers and holding cabinets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4507992" y="2331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COLD CHAIN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507992" y="2670048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Freezers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Chillers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 tables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Sauce and condiment stations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394192" y="2331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E31B23"/>
                </a:solidFill>
              </a:rPr>
              <a:t>BACK-OF-HOUSE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394192" y="2670048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 hood system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Stainless work tables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Beverage equipment
</a:t>
            </a:r>
            <a:pPr indent="0" marL="0">
              <a:buNone/>
            </a:pPr>
            <a:r>
              <a:rPr lang="en-US" sz="96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6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Smallwares and utensils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</a:rPr>
              <a:t>Potential cost movers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58368" y="5074920"/>
            <a:ext cx="10515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4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equipment or brand-approved vendors
</a:t>
            </a:r>
            <a:pPr indent="0" marL="0">
              <a:buNone/>
            </a:pPr>
            <a:r>
              <a:rPr lang="en-US" sz="94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4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stainless fabrication
</a:t>
            </a:r>
            <a:pPr indent="0" marL="0">
              <a:buNone/>
            </a:pPr>
            <a:r>
              <a:rPr lang="en-US" sz="94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4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kitchen capacity for flagship or delivery-heavy sites
</a:t>
            </a:r>
            <a:pPr indent="0" marL="0">
              <a:buNone/>
            </a:pPr>
            <a:r>
              <a:rPr lang="en-US" sz="94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4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time changes, shipping, duties and installation requirements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30352" y="5897880"/>
            <a:ext cx="10972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Equipment should be verified against the official Lotteria store equipment list and supplier quotations.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Experience &amp; Store Systems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Furniture, branding and technology complete the restaurant’s front-of-house identity and operating rhythm.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13898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Furniture &amp; Fixtures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2A"/>
                </a:solidFill>
              </a:rPr>
              <a:t>₱1.5M – ₱3.0M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3108960" cy="18288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615184"/>
            <a:ext cx="32461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Dining tables and chairs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Waiting area and queue fixtures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cabinets and shelves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Condiment and service-area fixtures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544568" y="13898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Signage &amp; Branding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44568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31B23"/>
                </a:solidFill>
              </a:rPr>
              <a:t>₱800K – ₱1.8M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544568" y="2331720"/>
            <a:ext cx="3108960" cy="1828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615184"/>
            <a:ext cx="32461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Outdoor signage and lightbox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boards and wall graphics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stickers and promo displays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Brand-compliant color and layout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430768" y="138988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02A"/>
                </a:solidFill>
              </a:rPr>
              <a:t>POS &amp; Technology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30768" y="1783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2A"/>
                </a:solidFill>
              </a:rPr>
              <a:t>₱600K – ₱1.5M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430768" y="2331720"/>
            <a:ext cx="3108960" cy="18288"/>
          </a:xfrm>
          <a:prstGeom prst="rect">
            <a:avLst/>
          </a:prstGeom>
          <a:solidFill>
            <a:srgbClr val="FFC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615184"/>
            <a:ext cx="32461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terminals and printers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Kitchen display system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CCTV and internet setup
</a:t>
            </a:r>
            <a:pPr indent="0" marL="0">
              <a:buNone/>
            </a:pPr>
            <a:r>
              <a:rPr lang="en-US" sz="93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3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monitor and delivery integration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8368" y="4617720"/>
            <a:ext cx="1078992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183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</a:rPr>
              <a:t>Investor emphasis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B2F36"/>
                </a:solidFill>
              </a:rPr>
              <a:t>These categories are smaller than fit-out and kitchen equipment, but they strongly influence customer perception, order flow and sales reporting control.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&amp; Pre-Opening 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Legal, inventory and training work must be completed before the first official trading day.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PERMITS &amp; LEGAL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" y="149961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₱300K – ₱900K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34840" y="1207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OPENING INVENTORY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434840" y="14996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₱1.0M – ₱2.2M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01000" y="1207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TRAINING &amp; PRE-OPENING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001000" y="149961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₱600K – ₱1.5M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or DTI setup, barangay clearance, mayor’s permit and BIR registration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Sanitary permit, staff health cards, fire safety certificate and occupancy compliance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Signage permits, waste disposal requirements and local inspections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443984" y="2331720"/>
            <a:ext cx="3017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stock of patties, buns, chicken, fries, sauces, drinks and packaging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supplies, gloves, disposables, uniforms and store supplies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buffer for grand opening week and delivery-app promos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001000" y="2331720"/>
            <a:ext cx="31089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and crew training, kitchen procedures, cashier workflow and service standards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operations, soft opening, manuals and pre-opening payroll
</a:t>
            </a:r>
            <a:pPr indent="0" marL="0">
              <a:buNone/>
            </a:pPr>
            <a:r>
              <a:rPr lang="en-US" sz="92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2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readiness before marketing brings the crowd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principle: opening day should test demand, not basic readiness.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Budget &amp; Working Capital Buffer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Marketing creates the opening wave, while deposits and contingency keep the project steady.</a:t>
            </a:r>
            <a:endParaRPr lang="en-US" sz="950" dirty="0"/>
          </a:p>
        </p:txBody>
      </p:sp>
      <p:pic>
        <p:nvPicPr>
          <p:cNvPr id="5" name="Image 0" descr="/mnt/data/lotteria_store.jpg">    </p:cNvPr>
          <p:cNvPicPr>
            <a:picLocks noChangeAspect="1"/>
          </p:cNvPicPr>
          <p:nvPr/>
        </p:nvPicPr>
        <p:blipFill>
          <a:blip r:embed="rId1"/>
          <a:srcRect l="0" r="0" t="7037" b="7037"/>
          <a:stretch/>
        </p:blipFill>
        <p:spPr>
          <a:xfrm>
            <a:off x="640080" y="1234440"/>
            <a:ext cx="411480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234440"/>
            <a:ext cx="4114800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234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MARKETING &amp; LAUNCH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0" y="15270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31B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₱700K – ₱2.0M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04688" y="2212848"/>
            <a:ext cx="53035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 opening promotion, social media ads and local store marketing
</a:t>
            </a:r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Flyers, mall advertising, influencer support and opening discounts
</a:t>
            </a:r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Photo/video content, delivery app visibility and community awareness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707070"/>
                </a:solidFill>
              </a:rPr>
              <a:t>OTHER SETUP EXPENSES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0" y="4041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₱3.5M – ₱8.0M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504688" y="4718304"/>
            <a:ext cx="53949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7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advance, security deposit, construction bond and utility deposits
</a:t>
            </a:r>
            <a:pPr indent="0" marL="0">
              <a:buNone/>
            </a:pPr>
            <a:r>
              <a:rPr lang="en-US" sz="97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7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Insurance, professional fees, delivery app onboarding and logistics
</a:t>
            </a:r>
            <a:pPr indent="0" marL="0">
              <a:buNone/>
            </a:pPr>
            <a:r>
              <a:rPr lang="en-US" sz="97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970" dirty="0">
                <a:solidFill>
                  <a:srgbClr val="2B2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Contingency fund for delays, repairs, design revisions and supplier changes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868680" y="4343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The buffer is not extra luxury. It is the shock absorber of the opening project.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Capital Preparation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Choose capital planning based on site quality, landlord demands and desired safety margin.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01168" cy="20116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188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02A"/>
                </a:solidFill>
              </a:rPr>
              <a:t>Minimum Working Estimate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4480560" y="11795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31B23"/>
                </a:solidFill>
              </a:rPr>
              <a:t>₱23.5M – ₱30M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20840" y="11978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Basic branch preparation with limited buffer. Suitable only when site condition and quotes are very clear.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1024128" y="1837944"/>
            <a:ext cx="100126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13432"/>
            <a:ext cx="201168" cy="201168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267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02A"/>
                </a:solidFill>
              </a:rPr>
              <a:t>Standard Mall / Commercial Branch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480560" y="225856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₱30M – ₱40M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227685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Recommended for typical mall or commercial spaces with normal deposits and standard fit-out requirements.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024128" y="2916936"/>
            <a:ext cx="100126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92424"/>
            <a:ext cx="201168" cy="201168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3467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02A"/>
                </a:solidFill>
              </a:rPr>
              <a:t>Prime Mall / Flagship Branch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480560" y="33375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₱40M – ₱50M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20840" y="335584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Better for high-traffic malls, premium visibility, stricter landlord rules or stronger launch marketing.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1024128" y="3995928"/>
            <a:ext cx="100126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471416"/>
            <a:ext cx="201168" cy="201168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4256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7202A"/>
                </a:solidFill>
              </a:rPr>
              <a:t>Larger Buffer / Premium Location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480560" y="44165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₱50M+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20840" y="4434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B2F36"/>
                </a:solidFill>
              </a:rPr>
              <a:t>Most conservative preparation for expensive sites, imported equipment, longer lead times and heavier contingency.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1024128" y="5074920"/>
            <a:ext cx="100126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724144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1B23"/>
                </a:solidFill>
              </a:rPr>
              <a:t>Advisor recommendation: prepare ₱30M–₱50M unless the location, landlord terms and supplier quotations are already finalized.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5989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Checklist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9326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</a:rPr>
              <a:t>Before presenting the amount as final, confirm every major cost line with official documents.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234440"/>
            <a:ext cx="347472" cy="34747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07592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61872" y="12435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Franchise Agreement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86200" y="1252728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Confirm franchise fee, package inclusions, territory rules, royalties and brand obligations.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713232" y="2020824"/>
            <a:ext cx="347472" cy="347472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9397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61872" y="20299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Supplier Quotations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86200" y="203911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Secure kitchen equipment, signage, POS, furniture and opening inventory quotes.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13232" y="2807208"/>
            <a:ext cx="347472" cy="34747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8036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61872" y="28163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Lease &amp; Landlord Terms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2825496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Review rent advance, deposit, construction bond, design rules, utilities and turnover condition.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13232" y="3593592"/>
            <a:ext cx="347472" cy="347472"/>
          </a:xfrm>
          <a:prstGeom prst="rect">
            <a:avLst/>
          </a:prstGeom>
          <a:solidFill>
            <a:srgbClr val="1720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667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61872" y="36027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Construction Bid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86200" y="361188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Validate fit-out through plans, engineering scope, material specs and contractor pricing.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13232" y="4379976"/>
            <a:ext cx="347472" cy="347472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5312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61872" y="43891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202A"/>
                </a:solidFill>
              </a:rPr>
              <a:t>LGU Compliance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886200" y="4398264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B2F36"/>
                </a:solidFill>
              </a:rPr>
              <a:t>Confirm business permits, sanitary, fire safety, occupancy and city-specific requirements.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85800" y="5486400"/>
            <a:ext cx="10881360" cy="594360"/>
          </a:xfrm>
          <a:prstGeom prst="rect">
            <a:avLst/>
          </a:prstGeom>
          <a:solidFill>
            <a:srgbClr val="E31B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660136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Final reminder: this presentation is a projected investment estimate. Verify all figures through official quotations, franchise agreements, supplier proposals, lease terms and local government requirements.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Lotteria Philippines 40-Pyeong Franchise Cost Estimate  |  Planning figures only, verify through official quotations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92840" y="63550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Lotteria Philippines Franchise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Lotteria Philippines 40-Pyeong Franchise Cost Estimate</dc:title>
  <dc:subject>Estimated Franchise Store Setup Cost for a 40-pyeong Lotteria Philippines Store</dc:subject>
  <dc:creator>Franchise Advisor</dc:creator>
  <cp:lastModifiedBy>Franchise Advisor</cp:lastModifiedBy>
  <cp:revision>1</cp:revision>
  <dcterms:created xsi:type="dcterms:W3CDTF">2026-06-13T10:02:19Z</dcterms:created>
  <dcterms:modified xsi:type="dcterms:W3CDTF">2026-06-13T10:02:19Z</dcterms:modified>
</cp:coreProperties>
</file>